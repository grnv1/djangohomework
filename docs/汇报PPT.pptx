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0E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2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1.png"/><Relationship Id="rId17" Type="http://schemas.openxmlformats.org/officeDocument/2006/relationships/image" Target="../media/image10.png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0725912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DCE8FF"/>
                </a:solidFill>
                <a:latin typeface="微软雅黑" panose="020B0503020204020204" charset="-122"/>
              </a:rPr>
              <a:t>课程作业汇报</a:t>
            </a:r>
            <a:endParaRPr sz="18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微软雅黑" panose="020B0503020204020204" charset="-122"/>
              </a:rPr>
              <a:t>CMS 内容管理系统</a:t>
            </a:r>
            <a:endParaRPr sz="4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9640" y="4534535"/>
            <a:ext cx="10332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汇报人：</a:t>
            </a:r>
            <a:r>
              <a:rPr lang="zh-CN"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龚振寰</a:t>
            </a:r>
            <a:r>
              <a:rPr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    日期：</a:t>
            </a:r>
            <a:r>
              <a:rPr lang="en-US"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2026-08-29</a:t>
            </a:r>
            <a:endParaRPr lang="en-US" sz="1600" b="0">
              <a:solidFill>
                <a:srgbClr val="DCE8FF"/>
              </a:solidFill>
              <a:latin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背景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这个系统是什么、为什么选这套技术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502920" y="1325880"/>
            <a:ext cx="5669280" cy="210312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85800" y="143560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系统定位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85800" y="1801368"/>
            <a:ext cx="5303520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内容管理系统（CMS）：让管理用户管理信息，并对外发布内容；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普通用户在前台浏览。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课程作业原型，目标是交付一个能运行、能解释、能复现、能迭代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的 CMS 原型系统。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4"/>
            </p:custDataLst>
          </p:nvPr>
        </p:nvSpPr>
        <p:spPr>
          <a:xfrm>
            <a:off x="502920" y="3657600"/>
            <a:ext cx="5669280" cy="214884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85800" y="376732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技术选型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85800" y="4133088"/>
            <a:ext cx="5303520" cy="1545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Python 3.12 + Django 6.0：内置 ORM、认证、迁移、表单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SQLite 文件型数据库（db.sqlite3），便于复现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服务端页面渲染 + PRG 模式，无前端框架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代码遵循 PEP 8，Git 全程分步提交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2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175" y="1275715"/>
            <a:ext cx="4105275" cy="4939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需求对照表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题目必做要求逐项核对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325880"/>
          <a:ext cx="6583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题目要求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完成情况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两个实体对象（栏目 / 文章）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栏目 Category 与文章 Item，独立数据模型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管理端增删改查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自建管理后台，栏目 / 文章 / 用户 / 日志全功能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前台浏览已发布文章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列表 + 详情 + 分页，仅展示已发布内容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三种查询（题目 / 时间 / 栏目）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标题模糊、日期区间（含当天）、栏目下拉，可组合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PEP 8 + Git 分步提交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ruff 检查通过，Git 全程 1</a:t>
                      </a:r>
                      <a:r>
                        <a:rPr lang="en-US"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+ 次分步提交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2120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微软雅黑" panose="020B0503020204020204" charset="-122"/>
              </a:rPr>
              <a:t>结论：题目必做要求全部满足。</a:t>
            </a:r>
            <a:endParaRPr sz="16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3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170" y="1262380"/>
            <a:ext cx="3994150" cy="4643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扩展需求表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在必做要求之外的</a:t>
            </a:r>
            <a:r>
              <a:rPr lang="zh-CN" sz="1300" b="0">
                <a:solidFill>
                  <a:srgbClr val="DCE8FF"/>
                </a:solidFill>
                <a:latin typeface="微软雅黑" panose="020B0503020204020204" charset="-122"/>
              </a:rPr>
              <a:t>其他系统功能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280160"/>
          <a:ext cx="105156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675120"/>
              </a:tblGrid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扩展需求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实现情况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草稿 / 已发布两种状态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表单「存草稿 / 发布」双动作，草稿保留发表时间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定时发布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发表时间可设为未来，到时自动前台可见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标签 Tag（多对多）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可选已有标签，也可直接输入新标签自动创建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浏览量统计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详情页原子自增（F()），实时展示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三级角色权限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超管 / 内容管理员 / 普通用户，按角色隔离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软删除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栏目 / 文章逻辑删除，数据保留、前台不可见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操作日志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创建 / 更新 / 删除（含软删除）逐条记录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用户收藏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收藏 / 取消收藏，提供「我的收藏」页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分页展示（条数可配置）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配置常量控制每页条数，翻页保留查询参数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4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数据库设计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SQLite 共 15 张物理表：业务表 6 ＋ Django 自带表 9（auth 权限 6 + 框架系统 3）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业务表 6 张（cms_*，本项目定义）  ·  Django 用户与权限 6 张（auth_*，框架内置）  ·  框架系统表 3 张（django_*）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657600" cy="306324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50292" cy="3063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928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业务表 · 6 张（本项目定义）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3291840" cy="2459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cms_category        栏目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cms_item            文章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cms_tag             标签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cms_item_tags       Item⇄Tag 多对多中间表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cms_favorite        收藏（user+item 联合唯一）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cms_operationlog    操作日志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栏目 / 文章继承 BaseModel：统一 创建人 / 更新人 / 软删除（is_deleted）字段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3657600" cy="306324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50292" cy="3063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928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Django 用户与权限 · 6 张（auth_*）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8848" y="2258568"/>
            <a:ext cx="3291840" cy="1292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auth_user                用户表（is_staff /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                         is_superuser 标志）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auth_group                用户组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auth_user_groups          用户↔组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auth_permission           权限项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auth_group_permissions    组↔权限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lang="en-US" altLang="zh-CN" sz="1050" b="0">
                <a:solidFill>
                  <a:srgbClr val="1F2933"/>
                </a:solidFill>
                <a:latin typeface="Consolas" panose="020B0609020204030204"/>
              </a:rPr>
              <a:t>auth_user_user_permissions　</a:t>
            </a:r>
            <a:r>
              <a:rPr lang="zh-CN" altLang="en-US" sz="1050" b="0">
                <a:solidFill>
                  <a:srgbClr val="1F2933"/>
                </a:solidFill>
                <a:latin typeface="Consolas" panose="020B0609020204030204"/>
              </a:rPr>
              <a:t>用户↔权限（未直接使用）</a:t>
            </a:r>
            <a:endParaRPr lang="zh-CN" altLang="en-US" sz="1050" b="0">
              <a:solidFill>
                <a:srgbClr val="1F2933"/>
              </a:solidFill>
              <a:latin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29016" y="1783080"/>
            <a:ext cx="3657600" cy="3063240"/>
          </a:xfrm>
          <a:prstGeom prst="rect">
            <a:avLst/>
          </a:prstGeom>
          <a:solidFill>
            <a:srgbClr val="F0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0EDF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9016" y="1783080"/>
            <a:ext cx="50292" cy="3063240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8928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框架系统表 · 3 张（django_*）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11896" y="2258568"/>
            <a:ext cx="3291840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django_content_type   模型注册（权限 / 日志底层引用）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django_migrations      迁移历史记录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django_session         登录会话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5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" y="5029200"/>
            <a:ext cx="5734050" cy="15335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55" y="5220335"/>
            <a:ext cx="4981575" cy="1209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代码架构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MVT 分层：URL → View（front / auth / manager）→ Form / Model / </a:t>
            </a:r>
            <a:r>
              <a:rPr lang="en-US" sz="1300" b="0">
                <a:solidFill>
                  <a:srgbClr val="DCE8FF"/>
                </a:solidFill>
                <a:latin typeface="微软雅黑" panose="020B0503020204020204" charset="-122"/>
              </a:rPr>
              <a:t>T</a:t>
            </a:r>
            <a:r>
              <a:rPr lang="en-US" altLang="zh-CN" sz="1300" b="0">
                <a:solidFill>
                  <a:srgbClr val="DCE8FF"/>
                </a:solidFill>
                <a:latin typeface="微软雅黑" panose="020B0503020204020204" charset="-122"/>
              </a:rPr>
              <a:t>emplates</a:t>
            </a:r>
            <a:endParaRPr lang="en-US" altLang="zh-CN"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502920" y="1280160"/>
            <a:ext cx="5577840" cy="365760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85800" y="138988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目录结构（按职责分包）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85800" y="1755648"/>
            <a:ext cx="5212080" cy="2538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100" b="0">
                <a:solidFill>
                  <a:srgbClr val="1F2933"/>
                </a:solidFill>
                <a:latin typeface="Consolas" panose="020B0609020204030204"/>
              </a:rPr>
              <a:t>DjangoProject</a:t>
            </a:r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/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├─ djangoproject/      项目配置 settings / urls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├─ cms/                CMS 应用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models.py        6 张业务表 + 公共基类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forms.py         表单 / 角色分配 apply_role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utils.py         权限装饰器 / 查询 / 分页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views/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│  ├─ front.py      前台：列表 / 详情 / 收藏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│  ├─ auth.py       注册 / 登录 / 登出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│  └─ manager.py    自建管理后台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urls(.admin).py  前台 / 后台路由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templates/cms/   模板（前台 / admin 分离）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└─ management/commands/seed.py  示例数据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├─ docs/               需求 / 接口文档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└─ ruff.toml           PEP 8 检查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</p:txBody>
      </p:sp>
      <p:sp>
        <p:nvSpPr>
          <p:cNvPr id="11" name="Rectangle 10"/>
          <p:cNvSpPr/>
          <p:nvPr>
            <p:custDataLst>
              <p:tags r:id="rId4"/>
            </p:custDataLst>
          </p:nvPr>
        </p:nvSpPr>
        <p:spPr>
          <a:xfrm>
            <a:off x="6309360" y="1280160"/>
            <a:ext cx="5394960" cy="3657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492240" y="13898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一次请求的分层流转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492240" y="1755648"/>
            <a:ext cx="5029200" cy="134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HTTP 请求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urls.py / urls_admin.py     路由分发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views.manager / front      视图（装饰器拦截权限）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forms.py                    </a:t>
            </a:r>
            <a:r>
              <a:rPr lang="en-US" sz="1250" b="0">
                <a:solidFill>
                  <a:srgbClr val="1F2933"/>
                </a:solidFill>
                <a:latin typeface="微软雅黑" panose="020B0503020204020204" charset="-122"/>
              </a:rPr>
              <a:t>       </a:t>
            </a:r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表单校验 / CSRF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models.py                  </a:t>
            </a:r>
            <a:r>
              <a:rPr lang="en-US" sz="1250" b="0">
                <a:solidFill>
                  <a:srgbClr val="1F2933"/>
                </a:solidFill>
                <a:latin typeface="微软雅黑" panose="020B0503020204020204" charset="-122"/>
              </a:rPr>
              <a:t>      </a:t>
            </a:r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ORM 数据操作 / 日志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templates/cms/          </a:t>
            </a:r>
            <a:r>
              <a:rPr lang="en-US" sz="1250" b="0">
                <a:solidFill>
                  <a:srgbClr val="1F2933"/>
                </a:solidFill>
                <a:latin typeface="微软雅黑" panose="020B0503020204020204" charset="-122"/>
              </a:rPr>
              <a:t>   </a:t>
            </a:r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模板渲染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HTML 响应（写操作一律 POST + PRG 重定向，防重复提交）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6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56505"/>
            <a:ext cx="5032375" cy="160337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1655" y="5056505"/>
            <a:ext cx="4231005" cy="1671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核心机制 ① 发布与可见性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status 与 publish_time 正交 → 草稿 / 发布 / 定时发布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502920" y="1325880"/>
            <a:ext cx="3611880" cy="301752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02920" y="1325880"/>
            <a:ext cx="50292" cy="3017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85800" y="14356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① 正交的两个概念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685800" y="1801368"/>
            <a:ext cx="3246120" cy="241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status —— 内容生命周期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（0=草稿 / 1=已发布）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publish_time —— 对外可见时间点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仅发布时有值；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草稿保存时保留已填时间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4343400" y="1325880"/>
            <a:ext cx="3611880" cy="3017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4343400" y="1325880"/>
            <a:ext cx="50292" cy="30175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526280" y="14356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② 可见性规则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26280" y="1801368"/>
            <a:ext cx="3246120" cy="241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前台可见 = 未删除 + 已发布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+ 发表时间 ≤ 当前时间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草稿 / 时间空 → 永不显示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已发布 / 时间在未来 → 定时发布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已发布 / 已到时间 → 正常显示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>
          <a:xfrm>
            <a:off x="8183879" y="1325880"/>
            <a:ext cx="3611880" cy="301752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0EDFE"/>
              </a:solidFill>
            </a:endParaRP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8183879" y="1325880"/>
            <a:ext cx="50292" cy="30175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366759" y="14356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③ 发布流程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366759" y="1801368"/>
            <a:ext cx="3246120" cy="241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存草稿 → status=0，保留时间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发布 → status=1，时间不可早于当前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发布时时间为空 → 自动取当前时间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定时发布：时间设为未来，到点可见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编辑已发布：时间锁定 · 仅「重新发布」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7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5465" y="4800600"/>
            <a:ext cx="3569335" cy="133223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4670" y="4561840"/>
            <a:ext cx="3427730" cy="207137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4512310"/>
            <a:ext cx="3574415" cy="19615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核心机制 ② 权限系统如何实现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三层实现：角色定义 → 入口拦截 → 数据 / 视图 / 表单加固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1247120" cy="91440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50292" cy="9144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44168"/>
            <a:ext cx="10881360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1 层：角色如何定义 —— 靠 User 模型标志位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1088136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apply_role()（cms/forms.py:2</a:t>
            </a:r>
            <a:r>
              <a:rPr lang="en-US" sz="1200" b="0">
                <a:solidFill>
                  <a:srgbClr val="1F2933"/>
                </a:solidFill>
                <a:latin typeface="微软雅黑" panose="020B0503020204020204" charset="-122"/>
              </a:rPr>
              <a:t>9</a:t>
            </a:r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-3</a:t>
            </a:r>
            <a:r>
              <a:rPr lang="en-US" sz="1200" b="0">
                <a:solidFill>
                  <a:srgbClr val="1F2933"/>
                </a:solidFill>
                <a:latin typeface="微软雅黑" panose="020B0503020204020204" charset="-122"/>
              </a:rPr>
              <a:t>5</a:t>
            </a:r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）：is_staff（editor/superuser）、is_superuser（仅 superuser）get_role() 反向推导角色。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502920" y="2286000"/>
            <a:ext cx="5486400" cy="9144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2"/>
            </p:custDataLst>
          </p:nvPr>
        </p:nvSpPr>
        <p:spPr>
          <a:xfrm>
            <a:off x="502920" y="2286000"/>
            <a:ext cx="50292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685800" y="239572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2 层：入口拦截 —— 视图装饰器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685800" y="2761488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@staff_required：未登录→登录页，非 is_staff → 重定向前台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@superuser_required：非超管访问 → 403（cms/utils.py:16-39）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5"/>
            </p:custDataLst>
          </p:nvPr>
        </p:nvSpPr>
        <p:spPr>
          <a:xfrm>
            <a:off x="6263640" y="2286000"/>
            <a:ext cx="5486400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6"/>
            </p:custDataLst>
          </p:nvPr>
        </p:nvSpPr>
        <p:spPr>
          <a:xfrm>
            <a:off x="6263640" y="2286000"/>
            <a:ext cx="50292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6446520" y="239572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3 层：数据层隔离 —— 只看自己的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6446520" y="2642743"/>
            <a:ext cx="512064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_get_manageable_items()：超管见全部；内容管理员</a:t>
            </a:r>
            <a:r>
              <a:rPr lang="zh-CN" sz="1200" b="0">
                <a:solidFill>
                  <a:srgbClr val="1F2933"/>
                </a:solidFill>
                <a:latin typeface="微软雅黑" panose="020B0503020204020204" charset="-122"/>
              </a:rPr>
              <a:t>只看自己的</a:t>
            </a:r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 qs.filter(author=user)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cms/views/manager.py:107-112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9"/>
            </p:custDataLst>
          </p:nvPr>
        </p:nvSpPr>
        <p:spPr>
          <a:xfrm>
            <a:off x="502920" y="3337560"/>
            <a:ext cx="5486400" cy="914400"/>
          </a:xfrm>
          <a:prstGeom prst="rect">
            <a:avLst/>
          </a:prstGeom>
          <a:solidFill>
            <a:srgbClr val="F0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0"/>
            </p:custDataLst>
          </p:nvPr>
        </p:nvSpPr>
        <p:spPr>
          <a:xfrm>
            <a:off x="502920" y="3337560"/>
            <a:ext cx="50292" cy="9144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685800" y="34472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4 层：视图层加固 —— 越权即 403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685800" y="3794760"/>
            <a:ext cx="5120640" cy="575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_check_item_permission()：非超管编辑 / 删除他人文章 → raise PermissionDenied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13"/>
            </p:custDataLst>
          </p:nvPr>
        </p:nvSpPr>
        <p:spPr>
          <a:xfrm>
            <a:off x="6263640" y="3337560"/>
            <a:ext cx="5486400" cy="9144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14"/>
            </p:custDataLst>
          </p:nvPr>
        </p:nvSpPr>
        <p:spPr>
          <a:xfrm>
            <a:off x="6263640" y="3337560"/>
            <a:ext cx="50292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5"/>
            </p:custDataLst>
          </p:nvPr>
        </p:nvSpPr>
        <p:spPr>
          <a:xfrm>
            <a:off x="6446520" y="34472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5 层：表单防越权 + 超管自保护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6"/>
            </p:custDataLst>
          </p:nvPr>
        </p:nvSpPr>
        <p:spPr>
          <a:xfrm>
            <a:off x="6446520" y="3662045"/>
            <a:ext cx="5120640" cy="589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altLang="en-US" sz="1200" b="0">
                <a:solidFill>
                  <a:srgbClr val="1F2933"/>
                </a:solidFill>
                <a:latin typeface="微软雅黑" panose="020B0503020204020204" charset="-122"/>
              </a:rPr>
              <a:t>存文章时强制 </a:t>
            </a:r>
            <a:r>
              <a:rPr lang="en-US" altLang="zh-CN" sz="1200" b="0">
                <a:solidFill>
                  <a:srgbClr val="1F2933"/>
                </a:solidFill>
                <a:latin typeface="微软雅黑" panose="020B0503020204020204" charset="-122"/>
              </a:rPr>
              <a:t>obj.author = request.user（manager.py:178）；</a:t>
            </a:r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超管不可停用 / 降权自己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8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2920" y="4709160"/>
            <a:ext cx="5487670" cy="155003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71360" y="4434205"/>
            <a:ext cx="3870960" cy="2160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测试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用测试证明系统「真的能跑」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21031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35608"/>
            <a:ext cx="5120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2</a:t>
            </a:r>
            <a:r>
              <a:rPr lang="en-US" sz="1500" b="1">
                <a:solidFill>
                  <a:srgbClr val="1558B0"/>
                </a:solidFill>
                <a:latin typeface="微软雅黑" panose="020B0503020204020204" charset="-122"/>
              </a:rPr>
              <a:t>8</a:t>
            </a:r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 个单元测试全部通过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801368"/>
            <a:ext cx="5120640" cy="1276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python manage.py test cms  →  Ran 2</a:t>
            </a:r>
            <a:r>
              <a:rPr lang="en-US" sz="1300" b="0">
                <a:solidFill>
                  <a:srgbClr val="1F2933"/>
                </a:solidFill>
                <a:latin typeface="微软雅黑" panose="020B0503020204020204" charset="-122"/>
              </a:rPr>
              <a:t>8</a:t>
            </a:r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 tests, OK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覆盖：可见性规则 · 软删除 · 权限隔离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查询（标题 / 时间 / 栏目 / 标签）· 收藏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草稿 / 发布流程 · 重复提交幂等 · 分页参数保留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代码规范：python -m ruff check .（PEP 8）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9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5310" y="1591310"/>
            <a:ext cx="4162425" cy="15716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3688715"/>
            <a:ext cx="9881870" cy="2541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0725912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0000"/>
            <a:ext cx="1033272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感谢大家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260000"/>
            <a:ext cx="1033272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DCE8FF"/>
                </a:solidFill>
                <a:latin typeface="微软雅黑" panose="020B0503020204020204" charset="-122"/>
                <a:ea typeface="微软雅黑" panose="020B0503020204020204" charset="-122"/>
              </a:rPr>
              <a:t>汇报完毕 · 恳请各位老师批评指正</a:t>
            </a:r>
            <a:endParaRPr sz="1600" b="0">
              <a:solidFill>
                <a:srgbClr val="DC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,&quot;left&quot;:39.6,&quot;top&quot;:104.4,&quot;width&quot;:446.4}"/>
</p:tagLst>
</file>

<file path=ppt/tags/tag2.xml><?xml version="1.0" encoding="utf-8"?>
<p:tagLst xmlns:p="http://schemas.openxmlformats.org/presentationml/2006/main">
  <p:tag name="KSO_WM_DIAGRAM_VIRTUALLY_FRAME" val="{&quot;height&quot;:352.8,&quot;left&quot;:39.6,&quot;top&quot;:104.4,&quot;width&quot;:446.4}"/>
</p:tagLst>
</file>

<file path=ppt/tags/tag3.xml><?xml version="1.0" encoding="utf-8"?>
<p:tagLst xmlns:p="http://schemas.openxmlformats.org/presentationml/2006/main">
  <p:tag name="KSO_WM_DIAGRAM_VIRTUALLY_FRAME" val="{&quot;height&quot;:352.8,&quot;left&quot;:39.6,&quot;top&quot;:104.4,&quot;width&quot;:446.4}"/>
</p:tagLst>
</file>

<file path=ppt/tags/tag4.xml><?xml version="1.0" encoding="utf-8"?>
<p:tagLst xmlns:p="http://schemas.openxmlformats.org/presentationml/2006/main">
  <p:tag name="KSO_WM_DIAGRAM_VIRTUALLY_FRAME" val="{&quot;height&quot;:352.8,&quot;left&quot;:39.6,&quot;top&quot;:104.4,&quot;width&quot;:446.4}"/>
</p:tagLst>
</file>

<file path=ppt/tags/tag5.xml><?xml version="1.0" encoding="utf-8"?>
<p:tagLst xmlns:p="http://schemas.openxmlformats.org/presentationml/2006/main">
  <p:tag name="KSO_WM_DIAGRAM_VIRTUALLY_FRAME" val="{&quot;height&quot;:352.8,&quot;left&quot;:39.6,&quot;top&quot;:104.4,&quot;width&quot;:446.4}"/>
</p:tagLst>
</file>

<file path=ppt/tags/tag6.xml><?xml version="1.0" encoding="utf-8"?>
<p:tagLst xmlns:p="http://schemas.openxmlformats.org/presentationml/2006/main">
  <p:tag name="KSO_WM_DIAGRAM_VIRTUALLY_FRAME" val="{&quot;height&quot;:352.8,&quot;left&quot;:39.6,&quot;top&quot;:104.4,&quot;width&quot;:446.4}"/>
</p:tagLst>
</file>

<file path=ppt/tags/tag7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8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9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10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11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12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13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4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5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6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7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8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9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20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21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22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23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24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25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6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7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8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9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0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1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2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3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4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5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6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7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8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9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40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3519</Words>
  <Application>WPS 演示</Application>
  <PresentationFormat>On-screen Show (4:3)</PresentationFormat>
  <Paragraphs>269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grnv</cp:lastModifiedBy>
  <cp:revision>31</cp:revision>
  <dcterms:created xsi:type="dcterms:W3CDTF">2013-01-27T09:14:00Z</dcterms:created>
  <dcterms:modified xsi:type="dcterms:W3CDTF">2026-08-29T11:19:23Z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AFCDD7234F0C43C89FA7A46B059DB162_12</vt:lpwstr>
  </property>
</Properties>
</file>